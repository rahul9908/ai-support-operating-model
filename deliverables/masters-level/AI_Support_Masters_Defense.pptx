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35573df1c346b9" /><Relationship Type="http://schemas.openxmlformats.org/officeDocument/2006/relationships/extended-properties" Target="/docProps/app.xml" Id="R638319eb5b9a4fa7" /><Relationship Type="http://schemas.openxmlformats.org/officeDocument/2006/relationships/officeDocument" Target="/ppt/presentation.xml" Id="Rea89704fa3df49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04e8f6ab404852"/>
  </p:sldMasterIdLst>
  <p:notesMasterIdLst>
    <p:notesMasterId xmlns:r="http://schemas.openxmlformats.org/officeDocument/2006/relationships" r:id="R9ff9a0d8d0774cdc"/>
  </p:notesMasterIdLst>
  <p:sldIdLst>
    <p:sldId xmlns:r="http://schemas.openxmlformats.org/officeDocument/2006/relationships" id="256" r:id="R47d8ed7470b64543"/>
    <p:sldId xmlns:r="http://schemas.openxmlformats.org/officeDocument/2006/relationships" id="257" r:id="R8a5e61ffcfee4f36"/>
    <p:sldId xmlns:r="http://schemas.openxmlformats.org/officeDocument/2006/relationships" id="258" r:id="Rfad192dbd08e4a48"/>
    <p:sldId xmlns:r="http://schemas.openxmlformats.org/officeDocument/2006/relationships" id="259" r:id="Rddab81b963fd40e5"/>
    <p:sldId xmlns:r="http://schemas.openxmlformats.org/officeDocument/2006/relationships" id="260" r:id="Rea3069949b96499c"/>
    <p:sldId xmlns:r="http://schemas.openxmlformats.org/officeDocument/2006/relationships" id="261" r:id="Rf0389a766e5c4774"/>
    <p:sldId xmlns:r="http://schemas.openxmlformats.org/officeDocument/2006/relationships" id="262" r:id="R0f4f0e3323364794"/>
    <p:sldId xmlns:r="http://schemas.openxmlformats.org/officeDocument/2006/relationships" id="263" r:id="Rcb67c3bf00bd4d8e"/>
    <p:sldId xmlns:r="http://schemas.openxmlformats.org/officeDocument/2006/relationships" id="264" r:id="Re7dcc76a3fe3492d"/>
    <p:sldId xmlns:r="http://schemas.openxmlformats.org/officeDocument/2006/relationships" id="265" r:id="Rf96da584ebb84fc7"/>
    <p:sldId xmlns:r="http://schemas.openxmlformats.org/officeDocument/2006/relationships" id="266" r:id="R2a475d916c204977"/>
    <p:sldId xmlns:r="http://schemas.openxmlformats.org/officeDocument/2006/relationships" id="267" r:id="Rf90430e0fb9842a3"/>
    <p:sldId xmlns:r="http://schemas.openxmlformats.org/officeDocument/2006/relationships" id="268" r:id="Rb668c7e45dea48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4d35a2087e4c56" /><Relationship Type="http://schemas.openxmlformats.org/officeDocument/2006/relationships/slideMaster" Target="/ppt/slideMasters/slideMaster1.xml" Id="Rac04e8f6ab404852" /><Relationship Type="http://schemas.openxmlformats.org/officeDocument/2006/relationships/notesMaster" Target="/ppt/notesMasters/notesMaster1.xml" Id="R9ff9a0d8d0774cdc" /><Relationship Type="http://schemas.openxmlformats.org/officeDocument/2006/relationships/presProps" Target="/ppt/presProps.xml" Id="R4648a0d7f3cd4a6c" /><Relationship Type="http://schemas.openxmlformats.org/officeDocument/2006/relationships/tableStyles" Target="/ppt/tableStyles.xml" Id="R139fd886d4154519" /><Relationship Type="http://schemas.openxmlformats.org/officeDocument/2006/relationships/slide" Target="/ppt/slides/slide1.xml" Id="R47d8ed7470b64543" /><Relationship Type="http://schemas.openxmlformats.org/officeDocument/2006/relationships/slide" Target="/ppt/slides/slide2.xml" Id="R8a5e61ffcfee4f36" /><Relationship Type="http://schemas.openxmlformats.org/officeDocument/2006/relationships/slide" Target="/ppt/slides/slide3.xml" Id="Rfad192dbd08e4a48" /><Relationship Type="http://schemas.openxmlformats.org/officeDocument/2006/relationships/slide" Target="/ppt/slides/slide4.xml" Id="Rddab81b963fd40e5" /><Relationship Type="http://schemas.openxmlformats.org/officeDocument/2006/relationships/slide" Target="/ppt/slides/slide5.xml" Id="Rea3069949b96499c" /><Relationship Type="http://schemas.openxmlformats.org/officeDocument/2006/relationships/slide" Target="/ppt/slides/slide6.xml" Id="Rf0389a766e5c4774" /><Relationship Type="http://schemas.openxmlformats.org/officeDocument/2006/relationships/slide" Target="/ppt/slides/slide7.xml" Id="R0f4f0e3323364794" /><Relationship Type="http://schemas.openxmlformats.org/officeDocument/2006/relationships/slide" Target="/ppt/slides/slide8.xml" Id="Rcb67c3bf00bd4d8e" /><Relationship Type="http://schemas.openxmlformats.org/officeDocument/2006/relationships/slide" Target="/ppt/slides/slide9.xml" Id="Re7dcc76a3fe3492d" /><Relationship Type="http://schemas.openxmlformats.org/officeDocument/2006/relationships/slide" Target="/ppt/slides/slide10.xml" Id="Rf96da584ebb84fc7" /><Relationship Type="http://schemas.openxmlformats.org/officeDocument/2006/relationships/slide" Target="/ppt/slides/slide11.xml" Id="R2a475d916c204977" /><Relationship Type="http://schemas.openxmlformats.org/officeDocument/2006/relationships/slide" Target="/ppt/slides/slide12.xml" Id="Rf90430e0fb9842a3" /><Relationship Type="http://schemas.openxmlformats.org/officeDocument/2006/relationships/slide" Target="/ppt/slides/slide13.xml" Id="Rb668c7e45dea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f3fa7f30840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6fa7177255490a" /><Relationship Type="http://schemas.openxmlformats.org/officeDocument/2006/relationships/notesMaster" Target="/ppt/notesMasters/notesMaster1.xml" Id="Re4b2cfd317004c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00193113d44a6a" /><Relationship Type="http://schemas.openxmlformats.org/officeDocument/2006/relationships/notesMaster" Target="/ppt/notesMasters/notesMaster1.xml" Id="Rd0a0cfcd5ec248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3798f5c34a40c9" /><Relationship Type="http://schemas.openxmlformats.org/officeDocument/2006/relationships/notesMaster" Target="/ppt/notesMasters/notesMaster1.xml" Id="Rf70c9076122e41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a077b0dcd4bb2" /><Relationship Type="http://schemas.openxmlformats.org/officeDocument/2006/relationships/notesMaster" Target="/ppt/notesMasters/notesMaster1.xml" Id="R8573be4d53c14a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05d646d8142a2" /><Relationship Type="http://schemas.openxmlformats.org/officeDocument/2006/relationships/notesMaster" Target="/ppt/notesMasters/notesMaster1.xml" Id="Rfc322a208e8d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8b3adef201431a" /><Relationship Type="http://schemas.openxmlformats.org/officeDocument/2006/relationships/notesMaster" Target="/ppt/notesMasters/notesMaster1.xml" Id="R33e210b775a743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c4652d3ace4a37" /><Relationship Type="http://schemas.openxmlformats.org/officeDocument/2006/relationships/notesMaster" Target="/ppt/notesMasters/notesMaster1.xml" Id="Rfd3a14b1aac44a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f7660ddcf442e0" /><Relationship Type="http://schemas.openxmlformats.org/officeDocument/2006/relationships/notesMaster" Target="/ppt/notesMasters/notesMaster1.xml" Id="Rfd1a29c74d6142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6d8f6806f94871" /><Relationship Type="http://schemas.openxmlformats.org/officeDocument/2006/relationships/notesMaster" Target="/ppt/notesMasters/notesMaster1.xml" Id="R2556375f4f9249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8011d7adc449b1" /><Relationship Type="http://schemas.openxmlformats.org/officeDocument/2006/relationships/notesMaster" Target="/ppt/notesMasters/notesMaster1.xml" Id="R51f5cfc752b742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406ee42db644be" /><Relationship Type="http://schemas.openxmlformats.org/officeDocument/2006/relationships/notesMaster" Target="/ppt/notesMasters/notesMaster1.xml" Id="Rfd1867d3f17e4c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bd1e03dd094f5a" /><Relationship Type="http://schemas.openxmlformats.org/officeDocument/2006/relationships/notesMaster" Target="/ppt/notesMasters/notesMaster1.xml" Id="R29aaee18553743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03ad05c6b04ac0" /><Relationship Type="http://schemas.openxmlformats.org/officeDocument/2006/relationships/notesMaster" Target="/ppt/notesMasters/notesMaster1.xml" Id="Reb77225d1c8045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cd3cb8cd644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a77f3a069e40c4" /><Relationship Type="http://schemas.openxmlformats.org/officeDocument/2006/relationships/slideLayout" Target="/ppt/slideLayouts/slideLayout1.xml" Id="R44894b3a58a9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894b3a58a9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3c585e3e34d6b" /><Relationship Type="http://schemas.openxmlformats.org/officeDocument/2006/relationships/notesSlide" Target="/ppt/notesSlides/notesSlide1.xml" Id="Rd7da1ad2b5b4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55341fd44192" /><Relationship Type="http://schemas.openxmlformats.org/officeDocument/2006/relationships/notesSlide" Target="/ppt/notesSlides/notesSlide2.xml" Id="R6649124133234e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f1754a7c24dc2" /><Relationship Type="http://schemas.openxmlformats.org/officeDocument/2006/relationships/notesSlide" Target="/ppt/notesSlides/notesSlide3.xml" Id="R3b59accd104d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b63d59d9042b3" /><Relationship Type="http://schemas.openxmlformats.org/officeDocument/2006/relationships/notesSlide" Target="/ppt/notesSlides/notesSlide4.xml" Id="R79e60001e76f44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dbe29360e41ee" /><Relationship Type="http://schemas.openxmlformats.org/officeDocument/2006/relationships/notesSlide" Target="/ppt/notesSlides/notesSlide5.xml" Id="R15a41e36a24346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74695c140469d" /><Relationship Type="http://schemas.openxmlformats.org/officeDocument/2006/relationships/notesSlide" Target="/ppt/notesSlides/notesSlide6.xml" Id="Rdd08a23debb840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bb2bb25d430c" /><Relationship Type="http://schemas.openxmlformats.org/officeDocument/2006/relationships/chart" Target="/ppt/slides/charts/chart1.xml" Id="R6348a63762ac4219" /><Relationship Type="http://schemas.openxmlformats.org/officeDocument/2006/relationships/notesSlide" Target="/ppt/notesSlides/notesSlide7.xml" Id="R386dd8fd1feb4e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bd939e041438d" /><Relationship Type="http://schemas.openxmlformats.org/officeDocument/2006/relationships/notesSlide" Target="/ppt/notesSlides/notesSlide8.xml" Id="R1ed01e68a27648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092dc57e34fbf" /><Relationship Type="http://schemas.openxmlformats.org/officeDocument/2006/relationships/notesSlide" Target="/ppt/notesSlides/notesSlide9.xml" Id="Re5cb938e11274c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3377336bc4548" /><Relationship Type="http://schemas.openxmlformats.org/officeDocument/2006/relationships/notesSlide" Target="/ppt/notesSlides/notesSlide10.xml" Id="R4a84e057c66b46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943f0d74b4931" /><Relationship Type="http://schemas.openxmlformats.org/officeDocument/2006/relationships/notesSlide" Target="/ppt/notesSlides/notesSlide11.xml" Id="R2d67fe581a5548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beca3b39c43bb" /><Relationship Type="http://schemas.openxmlformats.org/officeDocument/2006/relationships/notesSlide" Target="/ppt/notesSlides/notesSlide12.xml" Id="Ra43d14e72c734f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f5b81cd6f4e68" /><Relationship Type="http://schemas.openxmlformats.org/officeDocument/2006/relationships/notesSlide" Target="/ppt/notesSlides/notesSlide13.xml" Id="R496777b38120469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Quality measures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Classification accuracy</c:v>
          </c:tx>
          <c:spPr>
            <a:ln xmlns:a="http://schemas.openxmlformats.org/drawingml/2006/main" w="28575">
              <a:solidFill>
                <a:srgbClr val="2F75B5"/>
              </a:solidFill>
              <a:prstDash val="solid"/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0.88</c:v>
                </c:pt>
                <c:pt idx="1">
                  <c:v>0.91</c:v>
                </c:pt>
                <c:pt idx="2">
                  <c:v>0.93</c:v>
                </c:pt>
                <c:pt idx="3">
                  <c:v>0.94</c:v>
                </c:pt>
              </c:numCache>
            </c:numRef>
          </c:val>
        </c:ser>
        <c:ser>
          <c:idx val="1"/>
          <c:order val="1"/>
          <c:tx>
            <c:v>Hallucination rate</c:v>
          </c:tx>
          <c:spPr>
            <a:ln xmlns:a="http://schemas.openxmlformats.org/drawingml/2006/main" w="28575">
              <a:solidFill>
                <a:srgbClr val="B84A4A"/>
              </a:solidFill>
              <a:prstDash val="solid"/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0.035</c:v>
                </c:pt>
                <c:pt idx="1">
                  <c:v>0.024</c:v>
                </c:pt>
                <c:pt idx="2">
                  <c:v>0.018</c:v>
                </c:pt>
                <c:pt idx="3">
                  <c:v>0.012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296FA-0939-438D-91EE-822070CA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Customer Support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Requirements and Process Transformation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12740-9C4F-428C-B953-5B4D4621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AF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9EAF7"/>
                </a:solidFill>
                <a:latin typeface="Arial"/>
                <a:ea typeface="Arial"/>
                <a:cs typeface="Arial"/>
              </a:rPr>
              <a:t>Masters level applied business analysis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E5956-A88B-40B1-8C6F-0B0CF03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9B409-A402-416E-8272-C3909D06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1487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6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design and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54A84-EC84-438A-8271-0D1C551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2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19452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6297B-165B-49C3-85A2-D0888806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Current support work creates delay and weak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AE709-A8B0-4AC5-8A79-B3E4990A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94798-072F-4178-8D46-A7E7D732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86B62-A33B-4CB5-9C34-4F4BC4F9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9669-1D60-49CB-BA8F-9D94164A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39E90-7634-4075-99A1-5CC4B97C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811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Operational effect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A4AE0-D392-4E64-957A-3F53652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811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F7F4D-5BEE-4BB1-89D2-0C6F052F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Queue assignment before triage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Repeated searches across sources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Free-form drafts and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1FB83-2AAD-4289-8037-13023052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57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Longer wait before agent work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Reassignment and rework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Uneven response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F42E5-75E4-4C79-B4B4-BCD0DCB0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57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No source lineage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Scattered escalation guidance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Limited AI-ready event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AF467-BC48-4EA4-9A17-78643B51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33500"/>
            <a:ext cx="1714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3D177-2199-439C-A4DC-CECDF3B3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621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FA580-CF60-49D6-B697-F377B0EC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requests per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C4A4A-CBAB-43F6-85A0-E759138A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CBA61-C142-424A-9010-3C368AD1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718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6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assumed handling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9151C-5719-4393-B7FA-1BE8108F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Planning assumptions</a:t>
            </a:r>
          </a:p>
        </p:txBody>
      </p:sp>
    </p:spTree>
    <p:extLst>
      <p:ext uri="{BB962C8B-B14F-4D97-AF65-F5344CB8AC3E}">
        <p14:creationId xmlns:p14="http://schemas.microsoft.com/office/powerpoint/2010/main" val="20383595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2AE2F-6471-48DF-A8BE-12254F6A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Future AI-assisted support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EE9A9-FD4B-4B33-BDA4-5D3BEDD1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09739-42E8-4F82-B583-9823CD28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B8EA5-CD9E-4497-99CE-5EB32C2E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AC0F2-123B-41A3-8277-8D6B4B06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571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8FE65-2432-4E03-BEEB-C80D2BC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14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1CB4C-3EF0-4DD8-85A8-AED8863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and redact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ADB6E-6B2C-4521-8D7A-B3AB66B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765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76BF8-FFA9-499C-A01C-8C515EF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0250"/>
            <a:ext cx="1571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7CB80-A4E5-4680-B324-9C887A3F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14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79511-C9FE-4B82-B6A7-F395DD45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Classify and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score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348BC-4E42-43C2-9D4A-6087B1C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765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C2DE5-9A32-4178-A238-AEA112FF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1571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68708-6EDB-45AC-A57C-BE84DD5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14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657B0-2348-4393-836F-9DC9CA15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Retrieve approved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96F67-EA17-4CEA-940D-FB2B1FDA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765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D5A92-9085-4747-B99D-5F688140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1571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2B7FF-C27E-4EDD-BE4F-32C87CA5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14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454E7-7D89-4AA3-8F77-BE96C34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Draft with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CA902-97EA-4B7F-AD0A-E1F32830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F15CD-70FA-4039-A60A-764D2B1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0250"/>
            <a:ext cx="1571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60F9C-5454-4BB6-AFE8-D214655E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14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8EA28-B19D-45B5-A13E-59BB630D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and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D8B49-A274-4FB5-840B-4C86D7E8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37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DA00F-7B7F-440E-A376-EC0D2C6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00250"/>
            <a:ext cx="1571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262CE-85B4-4774-9682-9206F4D6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114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621E3-91FB-4F2E-A37C-C9363A5A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28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Send and</a:t>
            </a:r>
          </a:p>
          <a:p xmlns:a="http://schemas.openxmlformats.org/drawingml/2006/main"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B1945-1340-4296-9A62-E5D6DA88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Human approval remains mandatory during the pilot. High-risk topics and classification confidence below 0.80 route to review.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EAF9B-14EE-4EBD-9B3A-B2935ECE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CRM remains the case system of record. The knowledge platform remains the content system of record.</a:t>
            </a:r>
          </a:p>
        </p:txBody>
      </p:sp>
    </p:spTree>
    <p:extLst>
      <p:ext uri="{BB962C8B-B14F-4D97-AF65-F5344CB8AC3E}">
        <p14:creationId xmlns:p14="http://schemas.microsoft.com/office/powerpoint/2010/main" val="282641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92304-2664-4E4F-8976-508FCFC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System boundaries and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2FF4F-8A40-4A36-9DF1-ABC2A1E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C35DD-4885-44C8-9E6B-A3E2044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1C32D-3DE9-436A-8B3A-DA49B6C5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25CA1-DB1A-40D0-B01E-0AB33250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6E7DF-7802-44DF-BD1E-C6C3C5B7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1DBC7-F212-4D50-BDA6-C4CB1A7B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Case, customer, assignment, outbound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39822-7154-47C0-BA2F-117995F9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115A5-8850-4F56-933B-3CB47D08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430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AI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6443-612F-4CB4-9542-3897002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240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Policy checks, retrieval call, prompt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8B4CB-D8C6-4E52-A683-740F9416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3C73A-403F-4C00-998A-CB8D9235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Knowledge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C09EE-20C1-44D5-BEF0-2D17AC26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Approved articles, versions, access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B950F-6F65-4538-9DB7-DCD1C55C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2DFDB-94DF-4B7E-9232-68DE4962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Identity 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DA53D-15E4-4A35-B89C-83BA9C4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528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Roles and group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557E5-D101-435B-8305-D79DEA87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FB622-6C7A-41E3-B3A9-EFA97DA4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Analytics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0BF5A-B018-4C83-B13E-87A22B3C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Events, governed measures,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127B6-177B-4AD5-95AD-DEFF2DA7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608DA-C507-42F9-9AFC-6EEC493E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00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Enterprise 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EDCB2-8E6C-4C54-BB2E-671A2096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815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Minimized prompt processing under contract</a:t>
            </a:r>
          </a:p>
        </p:txBody>
      </p:sp>
    </p:spTree>
    <p:extLst>
      <p:ext uri="{BB962C8B-B14F-4D97-AF65-F5344CB8AC3E}">
        <p14:creationId xmlns:p14="http://schemas.microsoft.com/office/powerpoint/2010/main" val="1040508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45DF5C-C8A9-4E21-99BD-C350E91C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 requirements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5CA0A-2D63-4213-844B-D4A8F6C5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54121-FBA4-49FC-8550-C2D25B11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96E39-EC6F-4C27-9DA8-81521ED5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40661-8ECB-46CD-8991-062B9AF5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5578C-1893-4732-A8C7-2FA315E3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144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BE28-1A35-4C40-83CD-ABA7BEF9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Approved taxonomy and confidence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9379E-EE8A-4883-9574-D2C0EF73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90% accuracy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21D93-4495-425E-AD3E-0DFD5EBE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45CBA-35E3-4E9C-8A5F-CB354489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144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1F526-F7CB-4F46-BE58-A698C214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Active approved sources with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F582E-9482-44E3-BA16-04E32152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No source means no factual 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4580E-39DC-40B0-ACE4-0C081617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40F0E-D280-4388-A450-707ECE5C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144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61138-E40D-4221-91F8-8BBB2F9C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Agent approves, edits, rejects, or escalates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1FB4F-8AF5-4504-A907-5B290DD2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Risk rules override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D76CC-F470-41F4-8DB8-FBF85A3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C7638-6D71-4E5B-BC10-3BA870D6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99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7839B-86CC-4D8B-94E9-0651C40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Model, prompt, sources, actor, disposition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8F2BB-17B8-4894-9DD1-2456122A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Append-only linked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FCDC1-2480-4CCD-B2CC-789C9B5C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71874-F2CA-4525-AA80-1FFEE29F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99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CD9CB-3332-4D2A-BC93-B4E81A7F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Idempotent retries and manual fallback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438D8-3C33-43E6-A0A6-014770E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No duplicate CRM writes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791C5-2004-4583-89D8-C40EEC7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CED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83CF2-4136-446A-A79C-E3FAE148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DE5A1-216A-4681-9B84-E5EDEED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005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 minimization, redaction, access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065E7C-D399-4E42-9516-E54609FA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196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41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No provider training on customer content</a:t>
            </a:r>
          </a:p>
        </p:txBody>
      </p:sp>
    </p:spTree>
    <p:extLst>
      <p:ext uri="{BB962C8B-B14F-4D97-AF65-F5344CB8AC3E}">
        <p14:creationId xmlns:p14="http://schemas.microsoft.com/office/powerpoint/2010/main" val="1780725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C75D7-9F7E-4ED0-AF41-A241BEF2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Human review rules protect sensitive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C264B-481A-4110-A21A-9EDAB23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DD90B-332A-4487-874D-8EE41204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E653F-A84A-4924-8B0A-0FE4974D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55B73-FE97-47BC-81C9-1E842F35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57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DD5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F1F67-A4C1-4361-B2BB-64EC705F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73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Privacy, legal, fraud, threats, 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1E3A3-8878-4350-B8D1-6F0D206D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382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A4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2E0A2-56C5-433D-8A87-F27AFB22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4238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A4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A07A7-FA8F-4874-9DCB-F9DEE635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5732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4A4A"/>
                </a:solidFill>
                <a:latin typeface="Arial"/>
                <a:ea typeface="Arial"/>
                <a:cs typeface="Arial"/>
              </a:rPr>
              <a:t>Always specialist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99535-1FFD-451A-B10B-93EE3AF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457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DD5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5AC1B-340B-4B46-9A0F-C7DE525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955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Confidence below 0.80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1F2A9-559F-4FB1-A898-45D6D1F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764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BEFDD-79CF-4829-9415-9502CB0B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19325"/>
            <a:ext cx="4238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9A2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5537A-AF53-4548-9F77-2286521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9552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Agent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69897-A839-48F2-ACF1-38C7B7B1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457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DD5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DE490-F769-4920-8AA3-EE5336ED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No approved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06F6C-FA7F-4B8C-B4E6-A4D6B580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146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A4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A5B3F-9F07-4648-A1BF-44CA818E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57525"/>
            <a:ext cx="4238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4A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8F479-E2DE-442B-8BE0-950DCF04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3372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4A4A"/>
                </a:solidFill>
                <a:latin typeface="Arial"/>
                <a:ea typeface="Arial"/>
                <a:cs typeface="Arial"/>
              </a:rPr>
              <a:t>Withhold factual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CEB4A-CA93-42F5-B06F-A08F475C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457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DD5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16D8E-1864-4ED4-B455-6406646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Prompt injection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1FEFF-1BDA-4D8C-BEBC-4ECA3BEF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528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E4E61-7FC0-44DA-98BB-4B1BD842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4238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9A2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18E13-AE02-48A1-8981-FF931843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7192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9A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Flag and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06787-27BD-405B-8057-0F3B83F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457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DD5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F4F75-7B9A-42B5-80F6-D4FBC316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Provider or integration failure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53DE0-F21D-4FA7-8514-77380D6B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9107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3E6F3-1C4A-4C60-8CE1-A10E13EF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33925"/>
            <a:ext cx="4238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7B58DD-5E8C-4EE6-9465-71BC8C3E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1012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Manual CRM fallback</a:t>
            </a:r>
          </a:p>
        </p:txBody>
      </p:sp>
    </p:spTree>
    <p:extLst>
      <p:ext uri="{BB962C8B-B14F-4D97-AF65-F5344CB8AC3E}">
        <p14:creationId xmlns:p14="http://schemas.microsoft.com/office/powerpoint/2010/main" val="13210560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03C7D-A0D9-4A61-A71A-05520F64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Illustrative pilot trends show progress and remaining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580A8-CFF2-42AA-B24A-F07F2CB9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4DDA5-741B-40B8-A322-7520E85B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607F3-2AC6-45F9-B6D2-541D27B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48a63762ac421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8E1CF-B1C6-4868-8105-FD60D6DF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28750"/>
            <a:ext cx="3286125" cy="371475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C6975-874A-4DBA-9CFF-42732470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573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573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73925-BF00-4FA7-B573-0B5D96D4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431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8.3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6F765-8B60-4706-88C5-725C3772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handling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1AC6F-C75B-453B-B5C9-9A90D2D7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670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61%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402AE-FE7A-4269-8B74-CCA58C3C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956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draft acceptance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1462E-3587-49E3-99C5-3A1E5BC8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909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4.31 /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550B9-3463-4F3B-A392-38D678F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196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customer satisfaction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47176-8B59-43CF-9EDE-65F2ACF9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05375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Illustrative portfolio data</a:t>
            </a:r>
          </a:p>
        </p:txBody>
      </p:sp>
    </p:spTree>
    <p:extLst>
      <p:ext uri="{BB962C8B-B14F-4D97-AF65-F5344CB8AC3E}">
        <p14:creationId xmlns:p14="http://schemas.microsoft.com/office/powerpoint/2010/main" val="1947267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D2B53-1815-4A19-B8F4-6BF9E9EE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Acceptance requires complete control and 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32C2D-B1A0-4018-BAAD-63BFB73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C4800-D779-47B1-81A0-72F7956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B4DE3-5F61-4667-B153-C9E9B82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CEE51-C877-4CB2-B531-4E122294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68E04-831A-4375-9EE0-59A470DA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36C7E-AA67-4C4B-8201-25BC5CD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33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All Must requirements traced to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2F27F-4244-45C2-B878-2F970D82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07FA4-E153-4E1B-833E-23FE136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Functional UAT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76818-B150-4979-916B-64B0B804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764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100% critical cases and 95% overall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9AC00-019C-4420-8CB9-88346AB7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194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E4505-2B37-41B4-888B-E8CDD539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194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Defects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982AD-A3DB-4801-8162-C4D0682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19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open severity 1 or 2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06DC3-14CD-4E0E-A6CC-460C807C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32919-4C02-4FD6-8FC8-A51B78A6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623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AI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5DE2F-0ACD-431E-A829-2139C3BD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623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Accuracy, grounding, and risk capture meet targets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0D265-F83C-4FF7-B75C-474BECA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DC803-C51F-4AD8-9EA0-E0855979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Security and privacy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1F11F-6B83-4EB8-9905-39383C62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05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Access, redaction, retention, and audit validated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7839B-E810-4CF5-993F-163F714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18616-6634-4784-92F0-E19F289E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Business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C3599-61AB-43D8-9E3D-AD547835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048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Support and compliance sign the release decision</a:t>
            </a:r>
          </a:p>
        </p:txBody>
      </p:sp>
    </p:spTree>
    <p:extLst>
      <p:ext uri="{BB962C8B-B14F-4D97-AF65-F5344CB8AC3E}">
        <p14:creationId xmlns:p14="http://schemas.microsoft.com/office/powerpoint/2010/main" val="580410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B9926-CE66-4F03-89D7-93855C4F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Sixteen-week pilot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4A80D-D8B3-4EC7-94CF-7C1A796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7A97F-741E-464B-B427-03799BE3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C0096-3620-48B1-AF54-CD0DFB0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EE932-F987-43AC-BF37-D9CFB36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952625" cy="2333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C4805-D485-4A1D-8E83-6B9A9E0D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9873D-0A72-44AC-8266-CE946BF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Weeks 1–3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08174-3854-4D93-9953-9D049763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Scope, baseline, current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A710A-15F1-40EC-BBC4-490C85ED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09750"/>
            <a:ext cx="1952625" cy="2333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B3968-BDFA-4DC7-AD8B-097FD90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F9BFB-4490-4B31-9113-DD3FC2CC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Weeks 4–6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F5183-3631-455B-9F61-3F1FD038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95625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Requirements, controls, interfaces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05A80-6498-4180-80D4-CD99006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09750"/>
            <a:ext cx="1952625" cy="2333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D588A-24D4-4FB0-9891-69D0B55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193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760D3-8C29-4280-9B68-F205362F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431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Weeks 7–11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3E2D6-5BCC-4562-8059-04E02A1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95625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97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Integration, experience,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3025D-F0EF-491F-ABB1-1E7E692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1952625" cy="2333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CE138-50C7-4D67-B867-7B4F425E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9F5DE-37F9-4701-B975-CC93993D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431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Weeks 12–14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971C3-61EA-45E8-B7BE-2384126C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95625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UAT, defects, security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B1ED2-4984-4D30-BF39-3C1BDE3E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1952625" cy="2333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A3583-1151-4D0D-91EB-5BF1A15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193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5EDF7-4318-4455-8BC4-D20BF884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431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Weeks 15–16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DEDA9-BFB9-43C7-86B4-3A3DE4AF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95625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Controlled use and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4A1F6-F093-4B2E-81D0-A386279D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Decision points: scope approval after discovery, solution baseline after design, UAT readiness after build, and pilot approval after validation.</a:t>
            </a:r>
          </a:p>
        </p:txBody>
      </p:sp>
    </p:spTree>
    <p:extLst>
      <p:ext uri="{BB962C8B-B14F-4D97-AF65-F5344CB8AC3E}">
        <p14:creationId xmlns:p14="http://schemas.microsoft.com/office/powerpoint/2010/main" val="1045175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F4328-53DE-448B-BD06-B840B0C7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Recommendation and release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8B6A5-3D66-44C5-8877-D4F0611A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FEBD4-7B5C-4706-B775-C59EFD62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77AAC-A36C-457C-BAEF-E8563326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5EFFD-4932-4930-A201-45E687F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Approve a controlled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B697D-3F55-445D-B5D9-D63D291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English email and web requests only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Classification, retrieval, and agent-reviewed drafting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Human send approval for every response</a:t>
            </a:r>
          </a:p>
          <a:p xmlns:a="http://schemas.openxmlformats.org/drawingml/2006/main">
            <a:pPr>
              <a:defRPr sz="165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Feature flag and manual CRM fallback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C31CF-D0F3-4ACD-8833-F76FE1E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D9EAF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3A54-C2D2-438C-951C-64BC44A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668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98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Expand only after four consecutive weeks meet all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3A070-6137-4CA6-94BD-9068024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✓  ≥ 90% classification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F2DA1-578B-4B0D-81F8-B1209B29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003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✓  &lt; 2% unsupported-claim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B2D20-CB2C-4CD6-A1E2-EC4F6AB0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290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✓  100% known high-risk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48F9A-1FF9-499F-81FC-83B6E620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✓  CSAT at or above 4.2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C77E5-68E2-4A71-B126-8E4AC219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86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✓  Measured cost and handling benefit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6D148-42D0-4BF3-965A-D965E350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573"/>
                </a:solidFill>
                <a:latin typeface="Arial"/>
                <a:ea typeface="Arial"/>
                <a:cs typeface="Arial"/>
              </a:rPr>
              <a:t>Estimated capacity opportunity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857C7-9589-4A10-8144-A248A8A0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About 379 agent hours per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6B6DC-0362-4D45-803F-5E246098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Based on stated planning assumptions. Validate during the pilot.</a:t>
            </a:r>
          </a:p>
        </p:txBody>
      </p:sp>
    </p:spTree>
    <p:extLst>
      <p:ext uri="{BB962C8B-B14F-4D97-AF65-F5344CB8AC3E}">
        <p14:creationId xmlns:p14="http://schemas.microsoft.com/office/powerpoint/2010/main" val="1758508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2226E-20F5-4661-BEDE-06A8BE5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Research design and validity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9237D-E186-404F-B993-B8C82EA1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F8B48-28A3-4D96-B4C3-12FC6ADD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B3A5B-64B1-4679-B718-585BC68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F3958-A2F7-42DF-BBDF-10368AA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0D010-9C98-41E9-A6C2-5762872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E1167-A833-4A65-A7D7-9DC21FC9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811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2C4C9-FF9A-4418-9295-13F4D6E7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Validity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F1CDA-4DA2-4574-B237-6828CF73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Process delay and rework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ECA8B-83E1-4E7B-B5BF-286830AF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5737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Interviews, observation, CRM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49BCE-1CD6-45C6-B81F-F90DE3A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5737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Value-stream timing and thematic coding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83BF3-5325-4426-8228-ED72CCFE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573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Triangulate accounts with event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371D5-675A-486B-B925-F084A7DA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CA3C7-D6E6-40FA-8046-8C0DB19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527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AI quality and 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D9701-69CE-48CF-BC5D-3625458B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527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Stratified labeled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46ACD-8A7B-45EE-990C-9C5A968F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527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Macro F1, recall, calibration, grounding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B44A6-0328-4EB0-9A4F-B53B2269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527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Blind labels and adjudication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41DB9-D9B3-44E6-B313-4F132A71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61EFA-CB9E-426B-B6F2-81D1615A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Operational effect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D9F55-49BA-4042-8FFC-FD0B0D1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4807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 and comparison cases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20050-5E6A-44FD-BF94-9129693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4807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Adjusted outcome difference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DDB0FE-098D-4481-9285-16C8E9A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480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Random assignment where feasible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B61CA-BB83-477A-8B8A-56E24D20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B5AE90-D0B3-41E4-973C-8658C74D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Adoption and workforce effect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7664C-AC38-4010-93D8-2C963CC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434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Usage events and agent 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6B075-9F57-4C19-B45C-390A7D6B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43425"/>
            <a:ext cx="223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Segmented behavior and trust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7953B-BA26-447C-A48B-C48FFF2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43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Separate use from assigned treatment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8D4612-AD72-4D06-8BA6-4F6E1F4A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768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16BA0-FD07-4D2B-9528-5CB3DBCC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38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Limits: English email and web cases, illustrative baseline, possible case-mix differences, and survey nonresponse.</a:t>
            </a:r>
          </a:p>
        </p:txBody>
      </p:sp>
    </p:spTree>
    <p:extLst>
      <p:ext uri="{BB962C8B-B14F-4D97-AF65-F5344CB8AC3E}">
        <p14:creationId xmlns:p14="http://schemas.microsoft.com/office/powerpoint/2010/main" val="13442368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9EC18-A84A-487B-86F1-66AE6EE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Model evaluation and release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A0C52-0BBC-4B36-8AD4-2169FEFE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ABABA-91BD-437C-8812-708CB7FA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81D59-4168-4C76-B7CE-B55B92A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07B81-6BA3-481C-9337-3EE28C7F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E0D53-6532-4005-BCC9-35FB0959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≥ 0.88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EE7B5-FE05-496D-ADE4-6CE0566B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383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Classification across common and rare intents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33AB9-E6BD-45B1-B02A-E9A69C47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479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5A87D-3E7E-4E2B-8807-AC092F66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Critical-class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E6FE8-2C39-4A14-A2B0-8B687340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8112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≥ 0.95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94D4F-E892-45D4-9772-DD24BBE1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383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critical class hidden by an average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22A9B-76A5-444C-8750-3944978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CF3B9-F76C-4196-B593-8C4E3018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Calibration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72F39-9C7F-41BA-97E5-5D2B35CD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≤ 0.05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0AEA6-2EF6-4E0B-9ACE-DD0C027B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Confidence supports routing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B4F2E-12C4-4A1A-ABCE-BCCAF4A5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9D03C-022C-43B9-9BBF-E6E24B5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Grounded claims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EAD4B-6C7C-4B08-A7A9-B8E3292E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622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≥ 98%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B526D-609F-4D7F-9245-3A935091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Blind review with confidence interval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8B7F7-9073-4A15-8DFB-34DC868F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910A7-4816-45BA-A670-4EAD63CA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High-risk 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99A74-EBA5-4782-9907-6E305B74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35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100% observed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18059-5E52-4855-B8E6-7670AB7C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005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Lower confidence bound also reported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54D2E-B26C-4D76-B8C2-45E20D31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01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D71D97-A273-4B1F-9D51-0B08DD60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Retrieval recall at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258C7-B195-45F1-84FD-0F438D8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43375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≥ 95%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4C6C2-73A3-4A5B-8856-34C746DA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005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 availability tested separately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64479-38B8-4480-ADAD-1F5811B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01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1"/>
          </a:solidFill>
          <a:ln xmlns:a="http://schemas.openxmlformats.org/drawingml/2006/main" w="9525">
            <a:solidFill>
              <a:srgbClr val="D4DA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6FB5E-A448-4416-97AD-7648D158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9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release decision uses a joint scorecard. Speed gains cannot compensate for weaker safety, factual support, or customer outcomes.</a:t>
            </a:r>
          </a:p>
        </p:txBody>
      </p:sp>
    </p:spTree>
    <p:extLst>
      <p:ext uri="{BB962C8B-B14F-4D97-AF65-F5344CB8AC3E}">
        <p14:creationId xmlns:p14="http://schemas.microsoft.com/office/powerpoint/2010/main" val="20160994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8CB91-E9A2-4298-A386-A799E305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Business case uncertainty and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4D4D9-1EB6-493B-A5F8-560C54F2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B1BA3-BB47-4737-8C55-8DB79A65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E4050-57E5-4C76-963A-FDF1571E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AI Customer Support Transformation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31097-5DD3-45BD-951C-B21518E0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Scenario sensitivity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24E36-70BB-45D1-85A8-7DA3D4E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rights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A14D9-C243-43F7-8517-50C1DFA7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Downside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08510-7949-4474-A90F-CC6540B0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52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1.5 minutes saved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1B88E-3AC5-4D23-9B5A-BEEED765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52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45% 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E9709-FAB6-462E-817E-EC3E42FF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F9B29-B323-43E9-94DB-E91FE64A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3.5 minutes 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0F9DB-EA8D-4DDE-A47A-1A8C9020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289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70% adoption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96E9A-B1F1-47B7-B51D-4FE06B58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Upside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04BF0-C0A8-4EE2-90D8-BC626C0F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052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5.0 minutes saved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78856-43F8-459A-8F38-FEB02B8E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85%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402A1-25B0-4AB9-BE98-9725E0F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Capacity value is not booked savings. The model subtracts AI, review, platform, and change costs before payback.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E0D10-CE0B-4EA2-87CD-920581D0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5262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Risk taxonomy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80EBB-8EE2-46FB-BAEB-3AE45D5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Compliance 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E4EC2-BAC1-4825-AB53-7567FA5B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9557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Knowledge eligibility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2F072-7987-4761-9E74-FDDEFED2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955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Knowledge 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786EF-CCB3-4E24-9AF2-4A1FE535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3852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Model and prompt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B0BF3-980C-493E-84C0-8CD6E322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385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AI Product 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D2A5F-3D67-48E8-A271-25C60942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8147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Pilot expansion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9C620-63F6-4EE7-ABDA-E0E6550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8147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Executive Sponsor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7E9C4-0C4D-4EC5-A1E7-AA6F9D1D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530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9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Every release decision requires traceable evidence, a named accountable owner, and recorded residual-risk acceptance.</a:t>
            </a:r>
          </a:p>
        </p:txBody>
      </p:sp>
    </p:spTree>
    <p:extLst>
      <p:ext uri="{BB962C8B-B14F-4D97-AF65-F5344CB8AC3E}">
        <p14:creationId xmlns:p14="http://schemas.microsoft.com/office/powerpoint/2010/main" val="58152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2026-09-19T03:58:21.1880000Z</dcterms:created>
  <dcterms:modified xsi:type="dcterms:W3CDTF">2026-09-19T03:58:21.1880000Z</dcterms:modified>
</coreProperties>
</file>